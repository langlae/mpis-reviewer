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57150" y="0"/>
            <a:ext cx="4631801" cy="6858000"/>
          </a:xfrm>
          <a:prstGeom prst="rect">
            <a:avLst/>
          </a:prstGeom>
          <a:solidFill>
            <a:srgbClr val="1E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7150" y="0"/>
            <a:ext cx="36576" cy="68580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1645920" cy="292608"/>
          </a:xfrm>
          <a:prstGeom prst="rect">
            <a:avLst/>
          </a:prstGeom>
          <a:solidFill>
            <a:srgbClr val="162537"/>
          </a:solidFill>
          <a:ln w="9525">
            <a:solidFill>
              <a:srgbClr val="2A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CC9F0"/>
                </a:solidFill>
                <a:latin typeface="맑은 고딕"/>
              </a:rPr>
              <a:t>AI 검토자문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664275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E8EDF2"/>
                </a:solidFill>
                <a:latin typeface="맑은 고딕"/>
              </a:rPr>
              <a:t>기계설비
성능점검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20440"/>
            <a:ext cx="664275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CC9F0"/>
                </a:solidFill>
                <a:latin typeface="맑은 고딕"/>
              </a:rPr>
              <a:t>AI 검토자문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15968"/>
            <a:ext cx="636843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8FA6"/>
                </a:solidFill>
                <a:latin typeface="맑은 고딕"/>
              </a:rPr>
              <a:t>방대한 점검 항목을 100% 추출하고
계측 사진 수치를 AI가 직접 판독하여
보고서 적정성을 자동으로 검증합니다.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440680"/>
            <a:ext cx="1920240" cy="384048"/>
          </a:xfrm>
          <a:prstGeom prst="rect">
            <a:avLst/>
          </a:prstGeom>
          <a:solidFill>
            <a:srgbClr val="162537"/>
          </a:solidFill>
          <a:ln w="12700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551383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C9F0"/>
                </a:solidFill>
                <a:latin typeface="맑은 고딕"/>
              </a:rPr>
              <a:t>Google Gemini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5440680"/>
            <a:ext cx="1920240" cy="384048"/>
          </a:xfrm>
          <a:prstGeom prst="rect">
            <a:avLst/>
          </a:prstGeom>
          <a:solidFill>
            <a:srgbClr val="162537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08376" y="551383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C55E"/>
                </a:solidFill>
                <a:latin typeface="맑은 고딕"/>
              </a:rPr>
              <a:t>자동 판정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3480" y="5440680"/>
            <a:ext cx="1920240" cy="384048"/>
          </a:xfrm>
          <a:prstGeom prst="rect">
            <a:avLst/>
          </a:prstGeom>
          <a:solidFill>
            <a:srgbClr val="162537"/>
          </a:solidFill>
          <a:ln w="12700">
            <a:solidFill>
              <a:srgbClr val="F7B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11496" y="551383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7B731"/>
                </a:solidFill>
                <a:latin typeface="맑은 고딕"/>
              </a:rPr>
              <a:t>엑셀 출력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2910" y="1188720"/>
            <a:ext cx="3991721" cy="4389120"/>
          </a:xfrm>
          <a:prstGeom prst="rect">
            <a:avLst/>
          </a:prstGeom>
          <a:solidFill>
            <a:srgbClr val="162537"/>
          </a:solidFill>
          <a:ln w="9525">
            <a:solidFill>
              <a:srgbClr val="2A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22910" y="1188720"/>
            <a:ext cx="3991721" cy="36576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0070" y="1243584"/>
            <a:ext cx="380884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맑은 고딕"/>
              </a:rPr>
              <a:t>▶  AI SCANNING · 분석 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7502" y="1691640"/>
            <a:ext cx="3592549" cy="91440"/>
          </a:xfrm>
          <a:prstGeom prst="rect">
            <a:avLst/>
          </a:prstGeom>
          <a:solidFill>
            <a:srgbClr val="1E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7502" y="1938528"/>
            <a:ext cx="2395033" cy="91440"/>
          </a:xfrm>
          <a:prstGeom prst="rect">
            <a:avLst/>
          </a:prstGeom>
          <a:solidFill>
            <a:srgbClr val="1E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7502" y="2185416"/>
            <a:ext cx="3792135" cy="91440"/>
          </a:xfrm>
          <a:prstGeom prst="rect">
            <a:avLst/>
          </a:prstGeom>
          <a:solidFill>
            <a:srgbClr val="1E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7502" y="2432304"/>
            <a:ext cx="2794205" cy="91440"/>
          </a:xfrm>
          <a:prstGeom prst="rect">
            <a:avLst/>
          </a:prstGeom>
          <a:solidFill>
            <a:srgbClr val="2A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7502" y="2679192"/>
            <a:ext cx="3592549" cy="91440"/>
          </a:xfrm>
          <a:prstGeom prst="rect">
            <a:avLst/>
          </a:prstGeom>
          <a:solidFill>
            <a:srgbClr val="1E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87502" y="2926080"/>
            <a:ext cx="2195446" cy="91440"/>
          </a:xfrm>
          <a:prstGeom prst="rect">
            <a:avLst/>
          </a:prstGeom>
          <a:solidFill>
            <a:srgbClr val="1E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87502" y="3172968"/>
            <a:ext cx="3392963" cy="91440"/>
          </a:xfrm>
          <a:prstGeom prst="rect">
            <a:avLst/>
          </a:prstGeom>
          <a:solidFill>
            <a:srgbClr val="1E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87502" y="3419856"/>
            <a:ext cx="2594619" cy="91440"/>
          </a:xfrm>
          <a:prstGeom prst="rect">
            <a:avLst/>
          </a:prstGeom>
          <a:solidFill>
            <a:srgbClr val="0A2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87502" y="3666744"/>
            <a:ext cx="3592549" cy="91440"/>
          </a:xfrm>
          <a:prstGeom prst="rect">
            <a:avLst/>
          </a:prstGeom>
          <a:solidFill>
            <a:srgbClr val="1E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87502" y="3913632"/>
            <a:ext cx="2794205" cy="91440"/>
          </a:xfrm>
          <a:prstGeom prst="rect">
            <a:avLst/>
          </a:prstGeom>
          <a:solidFill>
            <a:srgbClr val="1E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87502" y="4160520"/>
            <a:ext cx="3193377" cy="91440"/>
          </a:xfrm>
          <a:prstGeom prst="rect">
            <a:avLst/>
          </a:prstGeom>
          <a:solidFill>
            <a:srgbClr val="2A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87502" y="4407408"/>
            <a:ext cx="3592549" cy="91440"/>
          </a:xfrm>
          <a:prstGeom prst="rect">
            <a:avLst/>
          </a:prstGeom>
          <a:solidFill>
            <a:srgbClr val="1E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87502" y="4654296"/>
            <a:ext cx="2395033" cy="91440"/>
          </a:xfrm>
          <a:prstGeom prst="rect">
            <a:avLst/>
          </a:prstGeom>
          <a:solidFill>
            <a:srgbClr val="1E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7502" y="4901184"/>
            <a:ext cx="2993791" cy="91440"/>
          </a:xfrm>
          <a:prstGeom prst="rect">
            <a:avLst/>
          </a:prstGeom>
          <a:solidFill>
            <a:srgbClr val="0A2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22910" y="3383280"/>
            <a:ext cx="3991721" cy="254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87502" y="5010912"/>
            <a:ext cx="1371600" cy="329184"/>
          </a:xfrm>
          <a:prstGeom prst="rect">
            <a:avLst/>
          </a:prstGeom>
          <a:solidFill>
            <a:srgbClr val="0A2A17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78942" y="506577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2C55E"/>
                </a:solidFill>
                <a:latin typeface="맑은 고딕"/>
              </a:rPr>
              <a:t>● 분석 완료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12700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74320"/>
            <a:ext cx="201168" cy="1905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CC9F0"/>
                </a:solidFill>
                <a:latin typeface="맑은 고딕"/>
              </a:rPr>
              <a:t>배경 및 필요성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8912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EDF2"/>
                </a:solidFill>
                <a:latin typeface="맑은 고딕"/>
              </a:rPr>
              <a:t>왜 지금 이 시스템이 필요한가?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97280"/>
            <a:ext cx="12188952" cy="1234440"/>
          </a:xfrm>
          <a:prstGeom prst="rect">
            <a:avLst/>
          </a:prstGeom>
          <a:solidFill>
            <a:srgbClr val="16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097280"/>
            <a:ext cx="1280160" cy="12344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" y="1325880"/>
            <a:ext cx="1188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1280160"/>
            <a:ext cx="12700" cy="868680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12344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DF2"/>
                </a:solidFill>
                <a:latin typeface="맑은 고딕"/>
              </a:rPr>
              <a:t>수작업 검토의 한계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60020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A8FA6"/>
                </a:solidFill>
                <a:latin typeface="맑은 고딕"/>
              </a:rPr>
              <a:t>성능점검 보고서 한 건에 수십~수백 개 항목이 포함됩니다. 수작업 검토 시 시간·인력 부족으로 누락이 발생하고, 형식적 검토에 그치는 경우가 많습니다.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2331720"/>
            <a:ext cx="1280160" cy="1234440"/>
          </a:xfrm>
          <a:prstGeom prst="rect">
            <a:avLst/>
          </a:prstGeom>
          <a:solidFill>
            <a:srgbClr val="B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" y="2560320"/>
            <a:ext cx="1188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2514600"/>
            <a:ext cx="12700" cy="868680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24688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DF2"/>
                </a:solidFill>
                <a:latin typeface="맑은 고딕"/>
              </a:rPr>
              <a:t>사진 속 수치 미검증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83464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A8FA6"/>
                </a:solidFill>
                <a:latin typeface="맑은 고딕"/>
              </a:rPr>
              <a:t>보고서에 첨부된 계측기 사진의 수치와 텍스트 기재값 일치 여부를 육안으로 확인하기 어렵습니다. 불일치가 있어도 검토자가 놓치는 경우가 빈번합니다.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3566160"/>
            <a:ext cx="12188952" cy="1234440"/>
          </a:xfrm>
          <a:prstGeom prst="rect">
            <a:avLst/>
          </a:prstGeom>
          <a:solidFill>
            <a:srgbClr val="16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566160"/>
            <a:ext cx="1280160" cy="12344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" y="3794760"/>
            <a:ext cx="1188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" y="3749040"/>
            <a:ext cx="12700" cy="868680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370332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DF2"/>
                </a:solidFill>
                <a:latin typeface="맑은 고딕"/>
              </a:rPr>
              <a:t>검토자 전문성 편차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06908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A8FA6"/>
                </a:solidFill>
                <a:latin typeface="맑은 고딕"/>
              </a:rPr>
              <a:t>검토자의 경험과 전문 지식에 따라 동일 보고서에 대해 판정 결과가 달라질 수 있습니다. 일관된 기준 적용이 어렵습니다.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00600"/>
            <a:ext cx="1280160" cy="1234440"/>
          </a:xfrm>
          <a:prstGeom prst="rect">
            <a:avLst/>
          </a:prstGeom>
          <a:solidFill>
            <a:srgbClr val="B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" y="5029200"/>
            <a:ext cx="1188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4983480"/>
            <a:ext cx="12700" cy="868680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49377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DF2"/>
                </a:solidFill>
                <a:latin typeface="맑은 고딕"/>
              </a:rPr>
              <a:t>사후 보완 소통 비효율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30352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A8FA6"/>
                </a:solidFill>
                <a:latin typeface="맑은 고딕"/>
              </a:rPr>
              <a:t>보완 항목을 공문으로 통보하고 재검토하는 과정이 반복됩니다. 의견 수정과 재확인에 많은 시간이 소요됩니다.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12700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74320"/>
            <a:ext cx="201168" cy="1905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CC9F0"/>
                </a:solidFill>
                <a:latin typeface="맑은 고딕"/>
              </a:rPr>
              <a:t>시스템 목적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8912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EDF2"/>
                </a:solidFill>
                <a:latin typeface="맑은 고딕"/>
              </a:rPr>
              <a:t>이 시스템이 해결하는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88952" cy="1298448"/>
          </a:xfrm>
          <a:prstGeom prst="rect">
            <a:avLst/>
          </a:prstGeom>
          <a:solidFill>
            <a:srgbClr val="16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078992"/>
            <a:ext cx="54864" cy="1298448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" y="1335024"/>
            <a:ext cx="658368" cy="658368"/>
          </a:xfrm>
          <a:prstGeom prst="rect">
            <a:avLst/>
          </a:prstGeom>
          <a:solidFill>
            <a:srgbClr val="1E3047"/>
          </a:solidFill>
          <a:ln w="12700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1335024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8EDF2"/>
                </a:solidFill>
                <a:latin typeface="맑은 고딕"/>
              </a:rP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188720"/>
            <a:ext cx="2560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4CC9F0"/>
                </a:solidFill>
                <a:latin typeface="맑은 고딕"/>
              </a:rPr>
              <a:t>점검 항목 100%
자동 추출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1280160"/>
            <a:ext cx="12700" cy="896112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1335024"/>
            <a:ext cx="7863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A8FA6"/>
                </a:solidFill>
                <a:latin typeface="맑은 고딕"/>
              </a:rPr>
              <a:t>PDF 또는 이미지 전체를 AI가 처음부터 끝까지 분석하여 단 하나의 항목도 누락 없이 추출합니다.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65992" y="1426464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>
                <a:solidFill>
                  <a:srgbClr val="13313C"/>
                </a:solidFill>
                <a:latin typeface="맑은 고딕"/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2377440"/>
            <a:ext cx="12188952" cy="12984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377440"/>
            <a:ext cx="54864" cy="129844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" y="2633472"/>
            <a:ext cx="658368" cy="658368"/>
          </a:xfrm>
          <a:prstGeom prst="rect">
            <a:avLst/>
          </a:prstGeom>
          <a:solidFill>
            <a:srgbClr val="1E3047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" y="2633472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8EDF2"/>
                </a:solidFill>
                <a:latin typeface="맑은 고딕"/>
              </a:rPr>
              <a:t>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2487168"/>
            <a:ext cx="2560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E63946"/>
                </a:solidFill>
                <a:latin typeface="맑은 고딕"/>
              </a:rPr>
              <a:t>계측기 사진 수치
자동 판독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39" y="2578608"/>
            <a:ext cx="12700" cy="896112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39" y="2633472"/>
            <a:ext cx="7863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A8FA6"/>
                </a:solidFill>
                <a:latin typeface="맑은 고딕"/>
              </a:rPr>
              <a:t>첨부된 계측기 사진에서 측정값을 직접 읽어 보고서의 텍스트 기재값과 자동으로 교차 검증합니다.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27249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>
                <a:solidFill>
                  <a:srgbClr val="3A0E11"/>
                </a:solidFill>
                <a:latin typeface="맑은 고딕"/>
              </a:rPr>
              <a:t>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3675888"/>
            <a:ext cx="12188952" cy="1298448"/>
          </a:xfrm>
          <a:prstGeom prst="rect">
            <a:avLst/>
          </a:prstGeom>
          <a:solidFill>
            <a:srgbClr val="16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675888"/>
            <a:ext cx="54864" cy="129844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7160" y="3931920"/>
            <a:ext cx="658368" cy="658368"/>
          </a:xfrm>
          <a:prstGeom prst="rect">
            <a:avLst/>
          </a:prstGeom>
          <a:solidFill>
            <a:srgbClr val="1E3047"/>
          </a:solidFill>
          <a:ln w="12700">
            <a:solidFill>
              <a:srgbClr val="F7B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" y="393192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8EDF2"/>
                </a:solidFill>
                <a:latin typeface="맑은 고딕"/>
              </a:rPr>
              <a:t>⚖️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3785616"/>
            <a:ext cx="2560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7B731"/>
                </a:solidFill>
                <a:latin typeface="맑은 고딕"/>
              </a:rPr>
              <a:t>적정 / 보완필요
자동 판정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49039" y="3877056"/>
            <a:ext cx="12700" cy="896112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77639" y="3931920"/>
            <a:ext cx="7863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A8FA6"/>
                </a:solidFill>
                <a:latin typeface="맑은 고딕"/>
              </a:rPr>
              <a:t>점검 기준과 실측 수치를 근거로 각 항목에 대해 [적정] 또는 [보완필요] 판정을 일관되게 내립니다.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4023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>
                <a:solidFill>
                  <a:srgbClr val="3D2E0C"/>
                </a:solidFill>
                <a:latin typeface="맑은 고딕"/>
              </a:rPr>
              <a:t>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974336"/>
            <a:ext cx="12188952" cy="12984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974336"/>
            <a:ext cx="54864" cy="12984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37160" y="5230368"/>
            <a:ext cx="658368" cy="658368"/>
          </a:xfrm>
          <a:prstGeom prst="rect">
            <a:avLst/>
          </a:prstGeom>
          <a:solidFill>
            <a:srgbClr val="1E3047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" y="523036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8EDF2"/>
                </a:solidFill>
                <a:latin typeface="맑은 고딕"/>
              </a:rPr>
              <a:t>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" y="5084064"/>
            <a:ext cx="2560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22C55E"/>
                </a:solidFill>
                <a:latin typeface="맑은 고딕"/>
              </a:rPr>
              <a:t>전문가 수준
검토자문의견 생성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49039" y="5175504"/>
            <a:ext cx="12700" cy="896112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77639" y="5230368"/>
            <a:ext cx="7863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A8FA6"/>
                </a:solidFill>
                <a:latin typeface="맑은 고딕"/>
              </a:rPr>
              <a:t>판정 근거와 보완 방향을 포함한 상세 의견을 자동 생성하고, 수정 지시를 반영하여 즉시 재작성합니다.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65992" y="53218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>
                <a:solidFill>
                  <a:srgbClr val="093117"/>
                </a:solidFill>
                <a:latin typeface="맑은 고딕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12700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56032"/>
            <a:ext cx="201168" cy="1905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CC9F0"/>
                </a:solidFill>
                <a:latin typeface="맑은 고딕"/>
              </a:rPr>
              <a:t>작동 프로세스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EDF2"/>
                </a:solidFill>
                <a:latin typeface="맑은 고딕"/>
              </a:rPr>
              <a:t>업로드에서 결과 출력까지 — 6단계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842006"/>
            <a:ext cx="2031492" cy="12700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9396" y="2130552"/>
            <a:ext cx="12700" cy="717804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9130" y="1417320"/>
            <a:ext cx="713232" cy="713232"/>
          </a:xfrm>
          <a:prstGeom prst="rect">
            <a:avLst/>
          </a:prstGeom>
          <a:solidFill>
            <a:srgbClr val="162537"/>
          </a:solidFill>
          <a:ln w="9525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130" y="1417320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8EDF2"/>
                </a:solidFill>
                <a:latin typeface="맑은 고딕"/>
              </a:rPr>
              <a:t>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5202" y="1280160"/>
            <a:ext cx="274320" cy="27432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5202" y="1280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D1B2A"/>
                </a:solidFill>
                <a:latin typeface="맑은 고딕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970" y="502920"/>
            <a:ext cx="987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EDF2"/>
                </a:solidFill>
                <a:latin typeface="맑은 고딕"/>
              </a:rPr>
              <a:t>보고서
업로드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970" y="960120"/>
            <a:ext cx="987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7A8FA6"/>
                </a:solidFill>
                <a:latin typeface="맑은 고딕"/>
              </a:rPr>
              <a:t>PDF / 이미지
다중 업로드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31492" y="2842006"/>
            <a:ext cx="2031492" cy="12700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40888" y="2848356"/>
            <a:ext cx="12700" cy="717804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90622" y="3566160"/>
            <a:ext cx="713232" cy="713232"/>
          </a:xfrm>
          <a:prstGeom prst="rect">
            <a:avLst/>
          </a:prstGeom>
          <a:solidFill>
            <a:srgbClr val="162537"/>
          </a:solidFill>
          <a:ln w="9525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0622" y="3566160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8EDF2"/>
                </a:solidFill>
                <a:latin typeface="맑은 고딕"/>
              </a:rPr>
              <a:t>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66694" y="3429000"/>
            <a:ext cx="274320" cy="27432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66694" y="3429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D1B2A"/>
                </a:solidFill>
                <a:latin typeface="맑은 고딕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53462" y="4370832"/>
            <a:ext cx="987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EDF2"/>
                </a:solidFill>
                <a:latin typeface="맑은 고딕"/>
              </a:rPr>
              <a:t>AI 전체
문서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53462" y="4754880"/>
            <a:ext cx="987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7A8FA6"/>
                </a:solidFill>
                <a:latin typeface="맑은 고딕"/>
              </a:rPr>
              <a:t>Gemini AI
모델 선택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62984" y="2842006"/>
            <a:ext cx="2031492" cy="12700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72380" y="2130552"/>
            <a:ext cx="12700" cy="717804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22114" y="1417320"/>
            <a:ext cx="713232" cy="713232"/>
          </a:xfrm>
          <a:prstGeom prst="rect">
            <a:avLst/>
          </a:prstGeom>
          <a:solidFill>
            <a:srgbClr val="162537"/>
          </a:solidFill>
          <a:ln w="9525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22114" y="1417320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8EDF2"/>
                </a:solidFill>
                <a:latin typeface="맑은 고딕"/>
              </a:rPr>
              <a:t>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8186" y="1280160"/>
            <a:ext cx="274320" cy="27432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98186" y="1280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D1B2A"/>
                </a:solidFill>
                <a:latin typeface="맑은 고딕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4954" y="502920"/>
            <a:ext cx="987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EDF2"/>
                </a:solidFill>
                <a:latin typeface="맑은 고딕"/>
              </a:rPr>
              <a:t>수치
판독 비교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4954" y="960120"/>
            <a:ext cx="987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7A8FA6"/>
                </a:solidFill>
                <a:latin typeface="맑은 고딕"/>
              </a:rPr>
              <a:t>사진값 vs
기재값 교차검증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4476" y="2842006"/>
            <a:ext cx="2031492" cy="12700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03872" y="2848356"/>
            <a:ext cx="12700" cy="717804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53606" y="3566160"/>
            <a:ext cx="713232" cy="713232"/>
          </a:xfrm>
          <a:prstGeom prst="rect">
            <a:avLst/>
          </a:prstGeom>
          <a:solidFill>
            <a:srgbClr val="162537"/>
          </a:solidFill>
          <a:ln w="9525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53606" y="3566160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8EDF2"/>
                </a:solidFill>
                <a:latin typeface="맑은 고딕"/>
              </a:rPr>
              <a:t>⚖️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29678" y="3429000"/>
            <a:ext cx="274320" cy="27432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29678" y="3429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D1B2A"/>
                </a:solidFill>
                <a:latin typeface="맑은 고딕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16446" y="4370832"/>
            <a:ext cx="987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EDF2"/>
                </a:solidFill>
                <a:latin typeface="맑은 고딕"/>
              </a:rPr>
              <a:t>적정성
판정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16446" y="4754880"/>
            <a:ext cx="987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7A8FA6"/>
                </a:solidFill>
                <a:latin typeface="맑은 고딕"/>
              </a:rPr>
              <a:t>점검기준
자동 적용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25968" y="2842006"/>
            <a:ext cx="2031492" cy="12700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35364" y="2130552"/>
            <a:ext cx="12700" cy="717804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85098" y="1417320"/>
            <a:ext cx="713232" cy="713232"/>
          </a:xfrm>
          <a:prstGeom prst="rect">
            <a:avLst/>
          </a:prstGeom>
          <a:solidFill>
            <a:srgbClr val="162537"/>
          </a:solidFill>
          <a:ln w="9525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85098" y="1417320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8EDF2"/>
                </a:solidFill>
                <a:latin typeface="맑은 고딕"/>
              </a:rPr>
              <a:t>✏️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61170" y="1280160"/>
            <a:ext cx="274320" cy="27432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61170" y="1280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D1B2A"/>
                </a:solidFill>
                <a:latin typeface="맑은 고딕"/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47938" y="502920"/>
            <a:ext cx="987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EDF2"/>
                </a:solidFill>
                <a:latin typeface="맑은 고딕"/>
              </a:rPr>
              <a:t>의견
수정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47938" y="960120"/>
            <a:ext cx="987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7A8FA6"/>
                </a:solidFill>
                <a:latin typeface="맑은 고딕"/>
              </a:rPr>
              <a:t>수정 지시
즉시 반영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157460" y="2842006"/>
            <a:ext cx="2031492" cy="12700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166856" y="2848356"/>
            <a:ext cx="12700" cy="717804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816590" y="3566160"/>
            <a:ext cx="713232" cy="713232"/>
          </a:xfrm>
          <a:prstGeom prst="rect">
            <a:avLst/>
          </a:prstGeom>
          <a:solidFill>
            <a:srgbClr val="162537"/>
          </a:solidFill>
          <a:ln w="9525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816590" y="3566160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8EDF2"/>
                </a:solidFill>
                <a:latin typeface="맑은 고딕"/>
              </a:rPr>
              <a:t>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392662" y="3429000"/>
            <a:ext cx="274320" cy="27432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392662" y="3429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D1B2A"/>
                </a:solidFill>
                <a:latin typeface="맑은 고딕"/>
              </a:rPr>
              <a:t>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79430" y="4370832"/>
            <a:ext cx="987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EDF2"/>
                </a:solidFill>
                <a:latin typeface="맑은 고딕"/>
              </a:rPr>
              <a:t>엑셀
다운로드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79430" y="4754880"/>
            <a:ext cx="987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7A8FA6"/>
                </a:solidFill>
                <a:latin typeface="맑은 고딕"/>
              </a:rPr>
              <a:t>검토자문의견서
즉시 출력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6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12700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19456"/>
            <a:ext cx="201168" cy="1905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CC9F0"/>
                </a:solidFill>
                <a:latin typeface="맑은 고딕"/>
              </a:rPr>
              <a:t>결과물 미리보기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8EDF2"/>
                </a:solidFill>
                <a:latin typeface="맑은 고딕"/>
              </a:rPr>
              <a:t>화면 구성 및 출력 내용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11183112" cy="566928"/>
          </a:xfrm>
          <a:prstGeom prst="rect">
            <a:avLst/>
          </a:prstGeom>
          <a:solidFill>
            <a:srgbClr val="1E3047"/>
          </a:solidFill>
          <a:ln w="9525">
            <a:solidFill>
              <a:srgbClr val="2A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033272"/>
            <a:ext cx="20994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A8FA6"/>
                </a:solidFill>
                <a:latin typeface="맑은 고딕"/>
              </a:rPr>
              <a:t>건축물명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225296"/>
            <a:ext cx="209946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8EDF2"/>
                </a:solidFill>
                <a:latin typeface="맑은 고딕"/>
              </a:rPr>
              <a:t>○○빌딩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39542" y="1078992"/>
            <a:ext cx="6350" cy="384048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9270" y="1033272"/>
            <a:ext cx="20994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A8FA6"/>
                </a:solidFill>
                <a:latin typeface="맑은 고딕"/>
              </a:rPr>
              <a:t>성능점검업체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9270" y="1225296"/>
            <a:ext cx="209946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8EDF2"/>
                </a:solidFill>
                <a:latin typeface="맑은 고딕"/>
              </a:rPr>
              <a:t>○○기계설비(주)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76164" y="1078992"/>
            <a:ext cx="6350" cy="384048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5892" y="1033272"/>
            <a:ext cx="20994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A8FA6"/>
                </a:solidFill>
                <a:latin typeface="맑은 고딕"/>
              </a:rPr>
              <a:t>대표자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5892" y="1225296"/>
            <a:ext cx="209946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8EDF2"/>
                </a:solidFill>
                <a:latin typeface="맑은 고딕"/>
              </a:rPr>
              <a:t>홍길동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12787" y="1078992"/>
            <a:ext cx="6350" cy="384048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22515" y="1033272"/>
            <a:ext cx="20994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A8FA6"/>
                </a:solidFill>
                <a:latin typeface="맑은 고딕"/>
              </a:rPr>
              <a:t>건물 주소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22515" y="1225296"/>
            <a:ext cx="209946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8EDF2"/>
                </a:solidFill>
                <a:latin typeface="맑은 고딕"/>
              </a:rPr>
              <a:t>서울특별시 강남구 ○○로 123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49409" y="1078992"/>
            <a:ext cx="6350" cy="384048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59137" y="1033272"/>
            <a:ext cx="20994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A8FA6"/>
                </a:solidFill>
                <a:latin typeface="맑은 고딕"/>
              </a:rPr>
              <a:t>관리주체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9137" y="1225296"/>
            <a:ext cx="209946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8EDF2"/>
                </a:solidFill>
                <a:latin typeface="맑은 고딕"/>
              </a:rPr>
              <a:t>○○자산관리(주)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1691640"/>
            <a:ext cx="5509260" cy="4818888"/>
          </a:xfrm>
          <a:prstGeom prst="rect">
            <a:avLst/>
          </a:prstGeom>
          <a:solidFill>
            <a:srgbClr val="162537"/>
          </a:solidFill>
          <a:ln w="9525">
            <a:solidFill>
              <a:srgbClr val="2A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1691640"/>
            <a:ext cx="5509260" cy="365760"/>
          </a:xfrm>
          <a:prstGeom prst="rect">
            <a:avLst/>
          </a:prstGeom>
          <a:solidFill>
            <a:srgbClr val="1E3047"/>
          </a:solidFill>
          <a:ln w="9525">
            <a:solidFill>
              <a:srgbClr val="2A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" y="1819656"/>
            <a:ext cx="109728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" y="1746504"/>
            <a:ext cx="50977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  <a:latin typeface="맑은 고딕"/>
              </a:rPr>
              <a:t>🟢  적정 항목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" y="2167128"/>
            <a:ext cx="52532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EDF2"/>
                </a:solidFill>
                <a:latin typeface="맑은 고딕"/>
              </a:rPr>
              <a:t>냉동기 성능 점검 — 냉수 출구 온도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2423160"/>
            <a:ext cx="52532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A8FA6"/>
                </a:solidFill>
                <a:latin typeface="맑은 고딕"/>
              </a:rPr>
              <a:t>기준: 설정치 ±1℃  |  판독값: 6.8℃  |  기재값: 6.8℃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" y="2642616"/>
            <a:ext cx="5253228" cy="658368"/>
          </a:xfrm>
          <a:prstGeom prst="rect">
            <a:avLst/>
          </a:prstGeom>
          <a:solidFill>
            <a:srgbClr val="0A2A17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" y="2734056"/>
            <a:ext cx="50520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6EFAC"/>
                </a:solidFill>
                <a:latin typeface="맑은 고딕"/>
              </a:rPr>
              <a:t>사진에서 확인된 냉수 출구 온도 6.8℃는 허용 범위 이내로 [적합] 판정이 적정합니다.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" y="3410712"/>
            <a:ext cx="5253228" cy="6350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3538728"/>
            <a:ext cx="52532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EDF2"/>
                </a:solidFill>
                <a:latin typeface="맑은 고딕"/>
              </a:rPr>
              <a:t>공기조화기 — 필터 압력차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" y="3794760"/>
            <a:ext cx="52532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A8FA6"/>
                </a:solidFill>
                <a:latin typeface="맑은 고딕"/>
              </a:rPr>
              <a:t>기준: 초기값 대비 2배 이내  |  판독값: 45Pa  |  기재값: 45Pa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" y="4014216"/>
            <a:ext cx="5253228" cy="658368"/>
          </a:xfrm>
          <a:prstGeom prst="rect">
            <a:avLst/>
          </a:prstGeom>
          <a:solidFill>
            <a:srgbClr val="0A2A17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" y="4105656"/>
            <a:ext cx="50520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6EFAC"/>
                </a:solidFill>
                <a:latin typeface="맑은 고딕"/>
              </a:rPr>
              <a:t>측정값 45Pa은 초기 설정값 대비 기준 이내이며, [적합] 판정은 적정합니다.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" y="4782312"/>
            <a:ext cx="5253228" cy="6350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6772" y="1691640"/>
            <a:ext cx="5509260" cy="4818888"/>
          </a:xfrm>
          <a:prstGeom prst="rect">
            <a:avLst/>
          </a:prstGeom>
          <a:solidFill>
            <a:srgbClr val="162537"/>
          </a:solidFill>
          <a:ln w="9525">
            <a:solidFill>
              <a:srgbClr val="2A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76772" y="1691640"/>
            <a:ext cx="5509260" cy="365760"/>
          </a:xfrm>
          <a:prstGeom prst="rect">
            <a:avLst/>
          </a:prstGeom>
          <a:solidFill>
            <a:srgbClr val="1E3047"/>
          </a:solidFill>
          <a:ln w="9525">
            <a:solidFill>
              <a:srgbClr val="2A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23076" y="1819656"/>
            <a:ext cx="109728" cy="10972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05956" y="1746504"/>
            <a:ext cx="50977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946"/>
                </a:solidFill>
                <a:latin typeface="맑은 고딕"/>
              </a:rPr>
              <a:t>🔴  보완필요 항목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41364" y="2167128"/>
            <a:ext cx="52532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EDF2"/>
                </a:solidFill>
                <a:latin typeface="맑은 고딕"/>
              </a:rPr>
              <a:t>급탕 펌프 — 토출 압력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1364" y="2423160"/>
            <a:ext cx="52532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A8FA6"/>
                </a:solidFill>
                <a:latin typeface="맑은 고딕"/>
              </a:rPr>
              <a:t>기준: 설계값 ±5%  |  판독값: 판독 불가  |  기재값: 0.32 MPa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4788" y="2642616"/>
            <a:ext cx="5253228" cy="658368"/>
          </a:xfrm>
          <a:prstGeom prst="rect">
            <a:avLst/>
          </a:prstGeom>
          <a:solidFill>
            <a:srgbClr val="2A070A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96228" y="2734056"/>
            <a:ext cx="50520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맑은 고딕"/>
              </a:rPr>
              <a:t>사진에서 수치를 확인할 수 없어 기재값(0.32 MPa)을 검증할 수 없습니다. 재첨부 필요.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4788" y="3410712"/>
            <a:ext cx="5253228" cy="6350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41364" y="3538728"/>
            <a:ext cx="52532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EDF2"/>
                </a:solidFill>
                <a:latin typeface="맑은 고딕"/>
              </a:rPr>
              <a:t>보일러 — 배기가스 온도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41364" y="3794760"/>
            <a:ext cx="52532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A8FA6"/>
                </a:solidFill>
                <a:latin typeface="맑은 고딕"/>
              </a:rPr>
              <a:t>기준: 230℃ 이하  |  판독값: 248℃  |  기재값: 220℃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4788" y="4014216"/>
            <a:ext cx="5253228" cy="658368"/>
          </a:xfrm>
          <a:prstGeom prst="rect">
            <a:avLst/>
          </a:prstGeom>
          <a:solidFill>
            <a:srgbClr val="2A070A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96228" y="4105656"/>
            <a:ext cx="50520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맑은 고딕"/>
              </a:rPr>
              <a:t>사진 판독값 248℃가 기준치(230℃)를 초과합니다. 기재값과 불일치, [적합] 판정 부적정.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4788" y="4782312"/>
            <a:ext cx="5253228" cy="6350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0" cy="6858000"/>
          </a:xfrm>
          <a:prstGeom prst="rect">
            <a:avLst/>
          </a:prstGeom>
          <a:solidFill>
            <a:srgbClr val="16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0" y="0"/>
            <a:ext cx="12700" cy="6858000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3774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EDF2"/>
                </a:solidFill>
                <a:latin typeface="맑은 고딕"/>
              </a:rPr>
              <a:t>기대효과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297180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A8FA6"/>
                </a:solidFill>
                <a:latin typeface="맑은 고딕"/>
              </a:rPr>
              <a:t>도입으로
달라지는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6309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A3F55"/>
                </a:solidFill>
                <a:latin typeface="맑은 고딕"/>
              </a:rPr>
              <a:t>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37160"/>
            <a:ext cx="4663440" cy="3209544"/>
          </a:xfrm>
          <a:prstGeom prst="rect">
            <a:avLst/>
          </a:prstGeom>
          <a:solidFill>
            <a:srgbClr val="162537"/>
          </a:solidFill>
          <a:ln w="9525">
            <a:solidFill>
              <a:srgbClr val="2A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31720" y="3282696"/>
            <a:ext cx="4663440" cy="64008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320040"/>
            <a:ext cx="4389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4CC9F0"/>
                </a:solidFill>
                <a:latin typeface="맑은 고딕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34416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DF2"/>
                </a:solidFill>
                <a:latin typeface="맑은 고딕"/>
              </a:rPr>
              <a:t>점검 항목 완전 추출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737360"/>
            <a:ext cx="4389120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A8FA6"/>
                </a:solidFill>
                <a:latin typeface="맑은 고딕"/>
              </a:rPr>
              <a:t>AI가 문서 전체를 분석해
항목 누락 없이 모든 내용을 검토합니다.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59752" y="137160"/>
            <a:ext cx="4663440" cy="3209544"/>
          </a:xfrm>
          <a:prstGeom prst="rect">
            <a:avLst/>
          </a:prstGeom>
          <a:solidFill>
            <a:srgbClr val="162537"/>
          </a:solidFill>
          <a:ln w="9525">
            <a:solidFill>
              <a:srgbClr val="2A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59752" y="3282696"/>
            <a:ext cx="4663440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320040"/>
            <a:ext cx="4389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E63946"/>
                </a:solidFill>
                <a:latin typeface="맑은 고딕"/>
              </a:rPr>
              <a:t>↓90%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8352" y="134416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DF2"/>
                </a:solidFill>
                <a:latin typeface="맑은 고딕"/>
              </a:rPr>
              <a:t>검토 시간 단축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8352" y="1737360"/>
            <a:ext cx="4389120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A8FA6"/>
                </a:solidFill>
                <a:latin typeface="맑은 고딕"/>
              </a:rPr>
              <a:t>수일이 걸리던 보고서 검토를
수분 내에 완료합니다.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1720" y="3511296"/>
            <a:ext cx="4663440" cy="3209544"/>
          </a:xfrm>
          <a:prstGeom prst="rect">
            <a:avLst/>
          </a:prstGeom>
          <a:solidFill>
            <a:srgbClr val="162537"/>
          </a:solidFill>
          <a:ln w="9525">
            <a:solidFill>
              <a:srgbClr val="2A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31720" y="6656832"/>
            <a:ext cx="4663440" cy="6400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0" y="3694176"/>
            <a:ext cx="4389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7B731"/>
                </a:solidFill>
                <a:latin typeface="맑은 고딕"/>
              </a:rPr>
              <a:t>0 편차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71830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DF2"/>
                </a:solidFill>
                <a:latin typeface="맑은 고딕"/>
              </a:rPr>
              <a:t>일관된 기준 판정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5111496"/>
            <a:ext cx="4389120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A8FA6"/>
                </a:solidFill>
                <a:latin typeface="맑은 고딕"/>
              </a:rPr>
              <a:t>검토자 경험·전문성과 무관하게
동일한 점검 기준이 적용됩니다.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59752" y="3511296"/>
            <a:ext cx="4663440" cy="3209544"/>
          </a:xfrm>
          <a:prstGeom prst="rect">
            <a:avLst/>
          </a:prstGeom>
          <a:solidFill>
            <a:srgbClr val="162537"/>
          </a:solidFill>
          <a:ln w="9525">
            <a:solidFill>
              <a:srgbClr val="2A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59752" y="6656832"/>
            <a:ext cx="466344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88352" y="3694176"/>
            <a:ext cx="4389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22C55E"/>
                </a:solidFill>
                <a:latin typeface="맑은 고딕"/>
              </a:rPr>
              <a:t>즉시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8352" y="471830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DF2"/>
                </a:solidFill>
                <a:latin typeface="맑은 고딕"/>
              </a:rPr>
              <a:t>엑셀 즉시 출력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5111496"/>
            <a:ext cx="4389120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A8FA6"/>
                </a:solidFill>
                <a:latin typeface="맑은 고딕"/>
              </a:rPr>
              <a:t>검토 결과를 즉시 엑셀로 내려받아
공문 작성에 바로 활용합니다.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