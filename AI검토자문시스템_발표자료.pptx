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  <a:latin typeface="맑은 고딕"/>
              </a:rPr>
              <a:t>AI 기반 성능점검 검토자문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164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0D8FF"/>
                </a:solidFill>
                <a:latin typeface="맑은 고딕"/>
              </a:rPr>
              <a:t>2026  ·  Google Gemini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5FC0"/>
                </a:solidFill>
                <a:latin typeface="맑은 고딕"/>
              </a:rPr>
              <a:t>AI 기반 보고서 자동 검토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53312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2540"/>
                </a:solidFill>
                <a:latin typeface="맑은 고딕"/>
              </a:rPr>
              <a:t>기계설비 성능점검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858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5FC0"/>
                </a:solidFill>
                <a:latin typeface="맑은 고딕"/>
              </a:rPr>
              <a:t>AI 검토자문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FA3"/>
                </a:solidFill>
                <a:latin typeface="맑은 고딕"/>
              </a:rPr>
              <a:t>방대한 점검 항목을 100% 누락 없이 추출하고,
계측 사진 수치를 AI가 직접 판독하여
보고서의 적정성을 자동으로 검증합니다.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886200"/>
            <a:ext cx="210312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867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40"/>
                </a:solidFill>
                <a:latin typeface="맑은 고딕"/>
              </a:rPr>
              <a:t>🏢  기계설비 성능점검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3886200"/>
            <a:ext cx="210312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9867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40"/>
                </a:solidFill>
                <a:latin typeface="맑은 고딕"/>
              </a:rPr>
              <a:t>🤖  Google Gemini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3886200"/>
            <a:ext cx="210312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39867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540"/>
                </a:solidFill>
                <a:latin typeface="맑은 고딕"/>
              </a:rPr>
              <a:t>📊  자동 검토자문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777240"/>
            <a:ext cx="3337560" cy="5212080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777240"/>
            <a:ext cx="3337560" cy="402336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850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F"/>
                </a:solidFill>
                <a:latin typeface="맑은 고딕"/>
              </a:rPr>
              <a:t>▶  AI SCANNING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1280160"/>
            <a:ext cx="2880360" cy="100584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1453896"/>
            <a:ext cx="260604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9640" y="1673352"/>
            <a:ext cx="288036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1819655"/>
            <a:ext cx="2788920" cy="914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9640" y="2039112"/>
            <a:ext cx="288036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2185416"/>
            <a:ext cx="274320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2404872"/>
            <a:ext cx="260604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2551176"/>
            <a:ext cx="2834640" cy="914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49640" y="2770632"/>
            <a:ext cx="288036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9640" y="2916936"/>
            <a:ext cx="269748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49640" y="3108960"/>
            <a:ext cx="288036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9640" y="3255264"/>
            <a:ext cx="260604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9640" y="3447288"/>
            <a:ext cx="2788920" cy="914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9640" y="3685032"/>
            <a:ext cx="288036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3831336"/>
            <a:ext cx="2743200" cy="73152"/>
          </a:xfrm>
          <a:prstGeom prst="rect">
            <a:avLst/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4014216"/>
            <a:ext cx="2880360" cy="914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3643884"/>
            <a:ext cx="3337560" cy="19050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5422392"/>
            <a:ext cx="2971800" cy="384048"/>
          </a:xfrm>
          <a:prstGeom prst="rect">
            <a:avLst/>
          </a:prstGeom>
          <a:solidFill>
            <a:srgbClr val="EFFB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548640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6A34A"/>
                </a:solidFill>
                <a:latin typeface="맑은 고딕"/>
              </a:rPr>
              <a:t>● 분석 중 · 전체 항목 추출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45720" cy="292608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75488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5FC0"/>
                </a:solidFill>
                <a:latin typeface="맑은 고딕"/>
              </a:rPr>
              <a:t>배경 및 필요성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0002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540"/>
                </a:solidFill>
                <a:latin typeface="맑은 고딕"/>
              </a:rPr>
              <a:t>왜 지금 이 시스템이 필요한가?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08176"/>
            <a:ext cx="11000232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27048"/>
            <a:ext cx="5417820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27048"/>
            <a:ext cx="45720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64208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  <a:latin typeface="맑은 고딕"/>
              </a:rPr>
              <a:t>문제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29384"/>
            <a:ext cx="51435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540"/>
                </a:solidFill>
                <a:latin typeface="맑은 고딕"/>
              </a:rPr>
              <a:t>수작업 검토의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04288"/>
            <a:ext cx="51435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성능점검 보고서 한 건에 수십~수백 개의 점검 항목이 포함됩니다.
전문가가 수작업으로 검토할 경우 시간·인력 부족으로 누락이 발생하고,
형식적 검토에 그치는 경우가 많습니다.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6772" y="1527048"/>
            <a:ext cx="5417820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6772" y="1527048"/>
            <a:ext cx="45720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1364" y="1664208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  <a:latin typeface="맑은 고딕"/>
              </a:rPr>
              <a:t>문제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1364" y="1929384"/>
            <a:ext cx="51435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540"/>
                </a:solidFill>
                <a:latin typeface="맑은 고딕"/>
              </a:rPr>
              <a:t>사진 속 수치 미검증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1364" y="2304288"/>
            <a:ext cx="51435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보고서에 첨부된 계측기 사진의 수치와 텍스트 기재값이 일치하는지
육안으로 확인하기 어렵습니다.
불일치가 있어도 검토자가 놓치는 경우가 빈번합니다.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5417820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69080"/>
            <a:ext cx="45720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206240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  <a:latin typeface="맑은 고딕"/>
              </a:rPr>
              <a:t>문제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471416"/>
            <a:ext cx="51435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540"/>
                </a:solidFill>
                <a:latin typeface="맑은 고딕"/>
              </a:rPr>
              <a:t>검토자 전문성 편차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846320"/>
            <a:ext cx="51435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검토자의 경험과 전문 지식에 따라 동일한 보고서에 대해
판정 결과가 달라질 수 있습니다.
일관된 기준 적용이 어렵습니다.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6772" y="4069080"/>
            <a:ext cx="5417820" cy="2377440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6772" y="4069080"/>
            <a:ext cx="45720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1364" y="4206240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C2626"/>
                </a:solidFill>
                <a:latin typeface="맑은 고딕"/>
              </a:rPr>
              <a:t>문제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1364" y="4471416"/>
            <a:ext cx="51435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2540"/>
                </a:solidFill>
                <a:latin typeface="맑은 고딕"/>
              </a:rPr>
              <a:t>사후 보완 소통 비효율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4846320"/>
            <a:ext cx="51435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보완이 필요한 항목을 추출하여 공문으로 통보하고
재검토하는 과정이 반복됩니다.
의견 수정과 재확인에 많은 시간이 소요됩니다.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45720" cy="292608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75488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5FC0"/>
                </a:solidFill>
                <a:latin typeface="맑은 고딕"/>
              </a:rPr>
              <a:t>시스템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0002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540"/>
                </a:solidFill>
                <a:latin typeface="맑은 고딕"/>
              </a:rPr>
              <a:t>이 시스템이 해결하는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08176"/>
            <a:ext cx="11000232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27048"/>
            <a:ext cx="5426964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8" y="1709928"/>
            <a:ext cx="475488" cy="475488"/>
          </a:xfrm>
          <a:prstGeom prst="rect">
            <a:avLst/>
          </a:prstGeom>
          <a:solidFill>
            <a:srgbClr val="F2F6FC"/>
          </a:solidFill>
          <a:ln w="9525">
            <a:solidFill>
              <a:srgbClr val="1B5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099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540"/>
                </a:solidFill>
                <a:latin typeface="맑은 고딕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313432"/>
            <a:ext cx="51526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점검 항목 100% 자동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15768"/>
            <a:ext cx="515264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업로드된 PDF 또는 이미지 전체를 AI가 처음부터 끝까지 분석하여
단 하나의 항목도 누락 없이 추출합니다.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7628" y="1527048"/>
            <a:ext cx="5426964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68796" y="1709928"/>
            <a:ext cx="475488" cy="475488"/>
          </a:xfrm>
          <a:prstGeom prst="rect">
            <a:avLst/>
          </a:prstGeom>
          <a:solidFill>
            <a:srgbClr val="F2F6FC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8796" y="170992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540"/>
                </a:solidFill>
                <a:latin typeface="맑은 고딕"/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2220" y="2313432"/>
            <a:ext cx="51526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계측기 사진 수치 자동 판독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2220" y="2715768"/>
            <a:ext cx="515264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첨부된 계측기 사진에서 측정값을 직접 읽어
보고서의 텍스트 기재값과 자동으로 교차 검증합니다.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59936"/>
            <a:ext cx="5426964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" y="4242816"/>
            <a:ext cx="475488" cy="475488"/>
          </a:xfrm>
          <a:prstGeom prst="rect">
            <a:avLst/>
          </a:prstGeom>
          <a:solidFill>
            <a:srgbClr val="F2F6FC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4281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540"/>
                </a:solidFill>
                <a:latin typeface="맑은 고딕"/>
              </a:rPr>
              <a:t>⚖️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846320"/>
            <a:ext cx="51526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적정 / 보완필요 자동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248656"/>
            <a:ext cx="515264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점검 기준과 실측 수치를 근거로 각 항목에 대해
[적정] 또는 [보완필요] 판정을 일관되게 내립니다.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7628" y="4059936"/>
            <a:ext cx="5426964" cy="2386584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8796" y="4242816"/>
            <a:ext cx="475488" cy="475488"/>
          </a:xfrm>
          <a:prstGeom prst="rect">
            <a:avLst/>
          </a:prstGeom>
          <a:solidFill>
            <a:srgbClr val="F2F6FC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8796" y="424281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2540"/>
                </a:solidFill>
                <a:latin typeface="맑은 고딕"/>
              </a:rP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4846320"/>
            <a:ext cx="51526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전문가 수준 검토자문의견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2220" y="5248656"/>
            <a:ext cx="515264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FA3"/>
                </a:solidFill>
                <a:latin typeface="맑은 고딕"/>
              </a:rPr>
              <a:t>판정 근거와 보완 방향을 포함한 상세 의견을 자동 생성하고,
수정 지시를 반영하여 즉시 재작성합니다.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45720" cy="292608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75488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5FC0"/>
                </a:solidFill>
                <a:latin typeface="맑은 고딕"/>
              </a:rPr>
              <a:t>작동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0002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540"/>
                </a:solidFill>
                <a:latin typeface="맑은 고딕"/>
              </a:rPr>
              <a:t>업로드에서 결과 출력까지 — 6단계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08176"/>
            <a:ext cx="11000232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40230" y="2151634"/>
            <a:ext cx="1175004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1862" y="1828800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5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862" y="18288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540"/>
                </a:solidFill>
                <a:latin typeface="맑은 고딕"/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33472"/>
            <a:ext cx="16870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B5FC0"/>
                </a:solidFill>
                <a:latin typeface="맑은 고딕"/>
              </a:rPr>
              <a:t>STEP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89504"/>
            <a:ext cx="16870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540"/>
                </a:solidFill>
                <a:latin typeface="맑은 고딕"/>
              </a:rPr>
              <a:t>보고서
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328416"/>
            <a:ext cx="16870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FA3"/>
                </a:solidFill>
                <a:latin typeface="맑은 고딕"/>
              </a:rPr>
              <a:t>PDF 또는
이미지 다중 업로드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3602" y="2151634"/>
            <a:ext cx="1175004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5234" y="1828800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5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5234" y="18288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540"/>
                </a:solidFill>
                <a:latin typeface="맑은 고딕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0884" y="2633472"/>
            <a:ext cx="16870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B5FC0"/>
                </a:solidFill>
                <a:latin typeface="맑은 고딕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884" y="2889504"/>
            <a:ext cx="16870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540"/>
                </a:solidFill>
                <a:latin typeface="맑은 고딕"/>
              </a:rPr>
              <a:t>AI 전체
문서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0884" y="3328416"/>
            <a:ext cx="16870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FA3"/>
                </a:solidFill>
                <a:latin typeface="맑은 고딕"/>
              </a:rPr>
              <a:t>Gemini AI
모델 선택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6974" y="2151634"/>
            <a:ext cx="1175004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8606" y="1828800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5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8606" y="18288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540"/>
                </a:solidFill>
                <a:latin typeface="맑은 고딕"/>
              </a:rPr>
              <a:t>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2633472"/>
            <a:ext cx="16870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B5FC0"/>
                </a:solidFill>
                <a:latin typeface="맑은 고딕"/>
              </a:rP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2889504"/>
            <a:ext cx="16870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540"/>
                </a:solidFill>
                <a:latin typeface="맑은 고딕"/>
              </a:rPr>
              <a:t>수치
판독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3328416"/>
            <a:ext cx="16870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FA3"/>
                </a:solidFill>
                <a:latin typeface="맑은 고딕"/>
              </a:rPr>
              <a:t>사진값 vs 기재값
교차검증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0346" y="2151634"/>
            <a:ext cx="1175004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81978" y="1828800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5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1978" y="18288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540"/>
                </a:solidFill>
                <a:latin typeface="맑은 고딕"/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7628" y="2633472"/>
            <a:ext cx="16870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B5FC0"/>
                </a:solidFill>
                <a:latin typeface="맑은 고딕"/>
              </a:rPr>
              <a:t>STEP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7628" y="2889504"/>
            <a:ext cx="16870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540"/>
                </a:solidFill>
                <a:latin typeface="맑은 고딕"/>
              </a:rPr>
              <a:t>항목별
적정성 판정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7628" y="3328416"/>
            <a:ext cx="16870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FA3"/>
                </a:solidFill>
                <a:latin typeface="맑은 고딕"/>
              </a:rPr>
              <a:t>점검 기준
자동 적용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73718" y="2151634"/>
            <a:ext cx="1175004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15350" y="1828800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5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5350" y="18288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540"/>
                </a:solidFill>
                <a:latin typeface="맑은 고딕"/>
              </a:rPr>
              <a:t>✏️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633472"/>
            <a:ext cx="16870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B5FC0"/>
                </a:solidFill>
                <a:latin typeface="맑은 고딕"/>
              </a:rPr>
              <a:t>STEP 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889504"/>
            <a:ext cx="16870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540"/>
                </a:solidFill>
                <a:latin typeface="맑은 고딕"/>
              </a:rPr>
              <a:t>의견 확인
및 수정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328416"/>
            <a:ext cx="16870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FA3"/>
                </a:solidFill>
                <a:latin typeface="맑은 고딕"/>
              </a:rPr>
              <a:t>항목별
수정 지시 반영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48722" y="1828800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1B5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48722" y="182880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2540"/>
                </a:solidFill>
                <a:latin typeface="맑은 고딕"/>
              </a:rPr>
              <a:t>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4372" y="2633472"/>
            <a:ext cx="16870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B5FC0"/>
                </a:solidFill>
                <a:latin typeface="맑은 고딕"/>
              </a:rPr>
              <a:t>STEP 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34372" y="2889504"/>
            <a:ext cx="16870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1A2540"/>
                </a:solidFill>
                <a:latin typeface="맑은 고딕"/>
              </a:rPr>
              <a:t>엑셀
다운로드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4372" y="3328416"/>
            <a:ext cx="16870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FA3"/>
                </a:solidFill>
                <a:latin typeface="맑은 고딕"/>
              </a:rPr>
              <a:t>검토자문의견서
즉시 출력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45720" cy="292608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75488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5FC0"/>
                </a:solidFill>
                <a:latin typeface="맑은 고딕"/>
              </a:rPr>
              <a:t>결과물 미리보기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0002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540"/>
                </a:solidFill>
                <a:latin typeface="맑은 고딕"/>
              </a:rPr>
              <a:t>화면 구성 및 출력 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08176"/>
            <a:ext cx="11000232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27048"/>
            <a:ext cx="11000232" cy="594360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203545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3"/>
                </a:solidFill>
                <a:latin typeface="맑은 고딕"/>
              </a:rPr>
              <a:t>건축물명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540"/>
                </a:solidFill>
                <a:latin typeface="맑은 고딕"/>
              </a:rPr>
              <a:t>○○빌딩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4406" y="1618488"/>
            <a:ext cx="6350" cy="41148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1566" y="1581912"/>
            <a:ext cx="203545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3"/>
                </a:solidFill>
                <a:latin typeface="맑은 고딕"/>
              </a:rPr>
              <a:t>성능점검업체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1566" y="1801368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540"/>
                </a:solidFill>
                <a:latin typeface="맑은 고딕"/>
              </a:rPr>
              <a:t>○○기계설비(주)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4452" y="1618488"/>
            <a:ext cx="6350" cy="41148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1612" y="1581912"/>
            <a:ext cx="203545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3"/>
                </a:solidFill>
                <a:latin typeface="맑은 고딕"/>
              </a:rPr>
              <a:t>대표자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1612" y="1801368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540"/>
                </a:solidFill>
                <a:latin typeface="맑은 고딕"/>
              </a:rPr>
              <a:t>홍길동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4499" y="1618488"/>
            <a:ext cx="6350" cy="41148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1659" y="1581912"/>
            <a:ext cx="203545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3"/>
                </a:solidFill>
                <a:latin typeface="맑은 고딕"/>
              </a:rPr>
              <a:t>건물 주소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1659" y="1801368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540"/>
                </a:solidFill>
                <a:latin typeface="맑은 고딕"/>
              </a:rPr>
              <a:t>서울특별시 강남구 ○○로 123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4545" y="1618488"/>
            <a:ext cx="6350" cy="41148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1705" y="1581912"/>
            <a:ext cx="203545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3"/>
                </a:solidFill>
                <a:latin typeface="맑은 고딕"/>
              </a:rPr>
              <a:t>관리주체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1705" y="1801368"/>
            <a:ext cx="203545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2540"/>
                </a:solidFill>
                <a:latin typeface="맑은 고딕"/>
              </a:rPr>
              <a:t>○○자산관리(주)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286000"/>
            <a:ext cx="54178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2286000"/>
            <a:ext cx="5417820" cy="402336"/>
          </a:xfrm>
          <a:prstGeom prst="rect">
            <a:avLst/>
          </a:prstGeom>
          <a:solidFill>
            <a:srgbClr val="EFFBF4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952" y="2432304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359152"/>
            <a:ext cx="49606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  <a:latin typeface="맑은 고딕"/>
              </a:rPr>
              <a:t>🟢  적정 항목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2798064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540"/>
                </a:solidFill>
                <a:latin typeface="맑은 고딕"/>
              </a:rPr>
              <a:t>냉동기 성능 점검 — 냉수 출구 온도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054096"/>
            <a:ext cx="51435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FA3"/>
                </a:solidFill>
                <a:latin typeface="맑은 고딕"/>
              </a:rPr>
              <a:t>점검 기준: 설정치 ±1℃ 이내  |  사진 판독값: 6.8℃  |  기재값: 6.8℃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" y="3273552"/>
            <a:ext cx="5161788" cy="640080"/>
          </a:xfrm>
          <a:prstGeom prst="rect">
            <a:avLst/>
          </a:prstGeom>
          <a:solidFill>
            <a:srgbClr val="EFFB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346704"/>
            <a:ext cx="49606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66034"/>
                </a:solidFill>
                <a:latin typeface="맑은 고딕"/>
              </a:rPr>
              <a:t>사진에서 확인된 냉수 출구 온도 6.8℃는 설정치 7℃ 대비 허용 범위 이내로, 업체의 [적합] 판정이 적정합니다.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" y="4023360"/>
            <a:ext cx="5161788" cy="635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4169664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540"/>
                </a:solidFill>
                <a:latin typeface="맑은 고딕"/>
              </a:rPr>
              <a:t>공기조화기 — 필터 압력차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4425696"/>
            <a:ext cx="51435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FA3"/>
                </a:solidFill>
                <a:latin typeface="맑은 고딕"/>
              </a:rPr>
              <a:t>점검 기준: 초기값 대비 2배 이내  |  사진 판독값: 45Pa  |  기재값: 45Pa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" y="4645152"/>
            <a:ext cx="5161788" cy="640080"/>
          </a:xfrm>
          <a:prstGeom prst="rect">
            <a:avLst/>
          </a:prstGeom>
          <a:solidFill>
            <a:srgbClr val="EFFB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4718304"/>
            <a:ext cx="49606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66034"/>
                </a:solidFill>
                <a:latin typeface="맑은 고딕"/>
              </a:rPr>
              <a:t>측정값 45Pa은 초기 설정값 대비 기준 이내이며, 업체의 [적합] 판정은 적정합니다.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" y="5394960"/>
            <a:ext cx="5161788" cy="635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6772" y="2286000"/>
            <a:ext cx="54178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6772" y="2286000"/>
            <a:ext cx="5417820" cy="402336"/>
          </a:xfrm>
          <a:prstGeom prst="rect">
            <a:avLst/>
          </a:prstGeom>
          <a:solidFill>
            <a:srgbClr val="FEF2F2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41364" y="2432304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4244" y="2359152"/>
            <a:ext cx="49606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맑은 고딕"/>
              </a:rPr>
              <a:t>🔴  보완필요 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1364" y="2798064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540"/>
                </a:solidFill>
                <a:latin typeface="맑은 고딕"/>
              </a:rPr>
              <a:t>급탕 펌프 — 토출 압력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1364" y="3054096"/>
            <a:ext cx="51435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FA3"/>
                </a:solidFill>
                <a:latin typeface="맑은 고딕"/>
              </a:rPr>
              <a:t>점검 기준: 설계값 ±5% 이내  |  사진 판독값: 판독 불가  |  기재값: 0.32 MPa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4788" y="3273552"/>
            <a:ext cx="5161788" cy="64008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6228" y="3346704"/>
            <a:ext cx="49606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1B1B"/>
                </a:solidFill>
                <a:latin typeface="맑은 고딕"/>
              </a:rPr>
              <a:t>첨부 사진에서 계측기 수치를 확인할 수 없어 기재값(0.32 MPa)의 정확성을 검증할 수 없습니다. 선명한 계측기 사진을 재첨부하여 보완하세요.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4788" y="4023360"/>
            <a:ext cx="5161788" cy="635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1364" y="4169664"/>
            <a:ext cx="5143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540"/>
                </a:solidFill>
                <a:latin typeface="맑은 고딕"/>
              </a:rPr>
              <a:t>보일러 — 배기가스 온도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1364" y="4425696"/>
            <a:ext cx="51435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FA3"/>
                </a:solidFill>
                <a:latin typeface="맑은 고딕"/>
              </a:rPr>
              <a:t>점검 기준: 230℃ 이하  |  사진 판독값: 248℃  |  기재값: 220℃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4788" y="4645152"/>
            <a:ext cx="5161788" cy="640080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6228" y="4718304"/>
            <a:ext cx="49606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1B1B"/>
                </a:solidFill>
                <a:latin typeface="맑은 고딕"/>
              </a:rPr>
              <a:t>사진 판독값 248℃는 기준치(230℃)를 초과합니다. 보고서 기재값(220℃)과 불일치하며, 업체의 [적합] 판정은 부적정합니다. 재측정 및 보완이 필요합니다.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4788" y="5394960"/>
            <a:ext cx="5161788" cy="635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75488"/>
            <a:ext cx="45720" cy="292608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75488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5FC0"/>
                </a:solidFill>
                <a:latin typeface="맑은 고딕"/>
              </a:rPr>
              <a:t>기대효과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10002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540"/>
                </a:solidFill>
                <a:latin typeface="맑은 고딕"/>
              </a:rPr>
              <a:t>도입으로 달라지는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08176"/>
            <a:ext cx="11000232" cy="12700"/>
          </a:xfrm>
          <a:prstGeom prst="rect">
            <a:avLst/>
          </a:prstGeom>
          <a:solidFill>
            <a:srgbClr val="D4D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27048"/>
            <a:ext cx="2626614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5376672"/>
            <a:ext cx="2626614" cy="64008"/>
          </a:xfrm>
          <a:prstGeom prst="rect">
            <a:avLst/>
          </a:prstGeom>
          <a:solidFill>
            <a:srgbClr val="1B5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28216"/>
            <a:ext cx="23522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B5FC0"/>
                </a:solidFill>
                <a:latin typeface="맑은 고딕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42616"/>
            <a:ext cx="235229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점검 항목
완전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2352294" cy="2039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FA3"/>
                </a:solidFill>
                <a:latin typeface="맑은 고딕"/>
              </a:rPr>
              <a:t>AI가 문서 전체를 분석해
항목 누락 없이 모든 내용을 검토합니다.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5566" y="1527048"/>
            <a:ext cx="2626614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5566" y="5376672"/>
            <a:ext cx="2626614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8446" y="1728216"/>
            <a:ext cx="23522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DC2626"/>
                </a:solidFill>
                <a:latin typeface="맑은 고딕"/>
              </a:rPr>
              <a:t>↓90%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8446" y="2642616"/>
            <a:ext cx="235229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검토 소요
시간 단축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8446" y="3218688"/>
            <a:ext cx="2352294" cy="2039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FA3"/>
                </a:solidFill>
                <a:latin typeface="맑은 고딕"/>
              </a:rPr>
              <a:t>수일이 걸리던 보고서 검토를
수분 내에 완료합니다.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527048"/>
            <a:ext cx="2626614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5376672"/>
            <a:ext cx="2626614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9652" y="1728216"/>
            <a:ext cx="23522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D97706"/>
                </a:solidFill>
                <a:latin typeface="맑은 고딕"/>
              </a:rPr>
              <a:t>0 편차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9652" y="2642616"/>
            <a:ext cx="235229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일관된 기준
판정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9652" y="3218688"/>
            <a:ext cx="2352294" cy="2039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FA3"/>
                </a:solidFill>
                <a:latin typeface="맑은 고딕"/>
              </a:rPr>
              <a:t>검토자 경험·전문성과 무관하게
동일한 점검 기준이 적용됩니다.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7978" y="1527048"/>
            <a:ext cx="2626614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7978" y="5376672"/>
            <a:ext cx="2626614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0858" y="1728216"/>
            <a:ext cx="235229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6A34A"/>
                </a:solidFill>
                <a:latin typeface="맑은 고딕"/>
              </a:rPr>
              <a:t>즉시
출력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0858" y="2642616"/>
            <a:ext cx="235229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540"/>
                </a:solidFill>
                <a:latin typeface="맑은 고딕"/>
              </a:rPr>
              <a:t>엑셀 검토
자문의견서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0858" y="3218688"/>
            <a:ext cx="2352294" cy="2039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FA3"/>
                </a:solidFill>
                <a:latin typeface="맑은 고딕"/>
              </a:rPr>
              <a:t>검토 결과를 즉시 엑셀로 내려받아
공문 작성에 바로 활용합니다.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623560"/>
            <a:ext cx="11000232" cy="868680"/>
          </a:xfrm>
          <a:prstGeom prst="rect">
            <a:avLst/>
          </a:prstGeom>
          <a:solidFill>
            <a:srgbClr val="F2F6FC"/>
          </a:solidFill>
          <a:ln w="9525">
            <a:solidFill>
              <a:srgbClr val="D4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540"/>
                </a:solidFill>
                <a:latin typeface="맑은 고딕"/>
              </a:rPr>
              <a:t>🎯  결론 — 기계설비 성능점검 보고서 검토를 AI 자동화함으로써 검토의 정확성과 효율성을 동시에 확보하고, 한정된 전문인력으로 더 많은 보고서를 더 높은 품질로 검토할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